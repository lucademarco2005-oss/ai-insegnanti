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Fatica</c:v>
                </c:pt>
              </c:strCache>
            </c:strRef>
          </c:tx>
          <c:spPr>
            <a:solidFill>
              <a:srgbClr val="F97316"/>
            </a:solidFill>
            <a:ln w="5080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7</c:v>
                </c:pt>
                <c:pt idx="2">
                  <c:v>5</c:v>
                </c:pt>
                <c:pt idx="3">
                  <c:v>4</c:v>
                </c:pt>
                <c:pt idx="4">
                  <c:v>3</c:v>
                </c:pt>
                <c:pt idx="5">
                  <c:v>2.5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Output</c:v>
                </c:pt>
              </c:strCache>
            </c:strRef>
          </c:tx>
          <c:spPr>
            <a:solidFill>
              <a:srgbClr val="06B6D4"/>
            </a:solidFill>
            <a:ln w="50800" cap="flat">
              <a:solidFill>
                <a:srgbClr val="06B6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</c:v>
                </c:pt>
                <c:pt idx="1">
                  <c:v>5</c:v>
                </c:pt>
                <c:pt idx="2">
                  <c:v>6.2</c:v>
                </c:pt>
                <c:pt idx="3">
                  <c:v>7</c:v>
                </c:pt>
                <c:pt idx="4">
                  <c:v>7.5</c:v>
                </c:pt>
                <c:pt idx="5">
                  <c:v>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B679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B6790"/>
                    </a:solidFill>
                    <a:latin typeface="Arial"/>
                  </a:rPr>
                  <a:t>Sessioni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79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12700" cap="flat">
              <a:solidFill>
                <a:srgbClr val="ECEAF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A1730"/>
              </a:solidFill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4F46E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USARE L'INTELLIGENZA ARTIFICIALE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03504" y="187452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modo potenziante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658368" y="3611880"/>
            <a:ext cx="502920" cy="82296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Incontro 1 — Cos'è l'IA e perché ti riguarda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658368" y="5029200"/>
            <a:ext cx="237744" cy="23774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0" name="Shape 8"/>
          <p:cNvSpPr/>
          <p:nvPr/>
        </p:nvSpPr>
        <p:spPr>
          <a:xfrm>
            <a:off x="1042416" y="5029200"/>
            <a:ext cx="237744" cy="23774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1" name="Shape 9"/>
          <p:cNvSpPr/>
          <p:nvPr/>
        </p:nvSpPr>
        <p:spPr>
          <a:xfrm>
            <a:off x="1426464" y="5029200"/>
            <a:ext cx="237744" cy="23774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Shape 10"/>
          <p:cNvSpPr/>
          <p:nvPr/>
        </p:nvSpPr>
        <p:spPr>
          <a:xfrm>
            <a:off x="1810512" y="5029200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6355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E8A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Formazione docenti sull'Intelligenza Artificiale · PNRR DM 219/2025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926080" cy="384048"/>
          </a:xfrm>
          <a:prstGeom prst="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PATTO D'AULA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Come funziona questo corso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6E3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496312"/>
            <a:ext cx="621792" cy="621792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496312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2404872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Interattivo e pratico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828800" y="280720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una lezione frontale: si fa, si prova, si sbaglia. L'IA si impara usandola.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3538728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6E3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3794760"/>
            <a:ext cx="621792" cy="621792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3794760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828800" y="37033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Uno spazio di confronto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28800" y="4105656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Oggi più che mai serve: sull'IA siamo tutti, in parte, principianti.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4837176"/>
            <a:ext cx="10881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2700">
            <a:solidFill>
              <a:srgbClr val="E6E3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5093208"/>
            <a:ext cx="621792" cy="621792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5093208"/>
            <a:ext cx="62179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🚀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828800" y="5001768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 la vostra partecipazione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828800" y="5404104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Porterete i vostri casi reali, non esempi astratti. Più mettete, più portate a casa.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INSEGNANTI · Formazione PNRR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424160" y="640080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4F46E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2926080" cy="384048"/>
          </a:xfrm>
          <a:prstGeom prst="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PATTO D'AULA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548640" cy="91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60320"/>
            <a:ext cx="10607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Questa è una 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palestra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non un 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cinema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7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657600" cy="3657600"/>
          </a:xfrm>
          <a:prstGeom prst="ellipse">
            <a:avLst/>
          </a:prstGeom>
          <a:solidFill>
            <a:srgbClr val="1E1B4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2743200" cy="420624"/>
          </a:xfrm>
          <a:prstGeom prst="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DIBATTITO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20440" y="6766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E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Parla la stanza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698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 dei vostri studenti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usano l'IA 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ogni giorno?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58368" y="489204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Prima di rispondere con i numeri: cosa pensate voi?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5943600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" y="5943600"/>
            <a:ext cx="237744" cy="237744"/>
          </a:xfrm>
          <a:prstGeom prst="ellipse">
            <a:avLst/>
          </a:prstGeom>
          <a:solidFill>
            <a:srgbClr val="FFD9C2"/>
          </a:solidFill>
          <a:ln/>
        </p:spPr>
      </p:sp>
      <p:sp>
        <p:nvSpPr>
          <p:cNvPr id="10" name="Shape 8"/>
          <p:cNvSpPr/>
          <p:nvPr/>
        </p:nvSpPr>
        <p:spPr>
          <a:xfrm>
            <a:off x="1426464" y="5943600"/>
            <a:ext cx="237744" cy="237744"/>
          </a:xfrm>
          <a:prstGeom prst="ellipse">
            <a:avLst/>
          </a:prstGeom>
          <a:solidFill>
            <a:srgbClr val="1E1B4B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926080" cy="384048"/>
          </a:xfrm>
          <a:prstGeom prst="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GAP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tuoi studenti sono già avanti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5257800" cy="2834640"/>
          </a:xfrm>
          <a:prstGeom prst="roundRect">
            <a:avLst>
              <a:gd name="adj" fmla="val 4516"/>
            </a:avLst>
          </a:prstGeom>
          <a:solidFill>
            <a:srgbClr val="1E1B4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514600"/>
            <a:ext cx="5257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9200" dirty="0"/>
          </a:p>
        </p:txBody>
      </p:sp>
      <p:sp>
        <p:nvSpPr>
          <p:cNvPr id="6" name="Text 4"/>
          <p:cNvSpPr/>
          <p:nvPr/>
        </p:nvSpPr>
        <p:spPr>
          <a:xfrm>
            <a:off x="914400" y="397764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degli studenti italiani usa l'IA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263640" y="2286000"/>
            <a:ext cx="5257800" cy="283464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9050">
            <a:solidFill>
              <a:srgbClr val="E6E3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2514600"/>
            <a:ext cx="5257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9200" dirty="0"/>
          </a:p>
        </p:txBody>
      </p:sp>
      <p:sp>
        <p:nvSpPr>
          <p:cNvPr id="9" name="Text 7"/>
          <p:cNvSpPr/>
          <p:nvPr/>
        </p:nvSpPr>
        <p:spPr>
          <a:xfrm>
            <a:off x="6537960" y="3977640"/>
            <a:ext cx="4709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degli insegnanti la usa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40080" y="5440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Sei l'unico adulto che può ancora insegnare la differenza tra usarla bene e usarla male.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GoStudent Education Future Report 2025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424160" y="635508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926080" cy="384048"/>
          </a:xfrm>
          <a:prstGeom prst="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GAP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822960" y="2331720"/>
            <a:ext cx="548640" cy="91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560320"/>
            <a:ext cx="10607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siete indietro.
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Siete gli unici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che possono ancora insegnare la 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differenza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INSEGNANTI · Formazione PNRR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0424160" y="640080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4F46E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2926080" cy="384048"/>
          </a:xfrm>
          <a:prstGeom prst="rect">
            <a:avLst>
              <a:gd name="adj" fmla="val 50000"/>
            </a:avLst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DEMISTIFICAZIONE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548640" cy="91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60320"/>
            <a:ext cx="10607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non pensa.
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capisce. Non ha opinioni.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926080" cy="384048"/>
          </a:xfrm>
          <a:prstGeom prst="rect">
            <a:avLst>
              <a:gd name="adj" fmla="val 50000"/>
            </a:avLst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DEMISTIFICAZIONE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fa davvero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88136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E6E3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514600"/>
            <a:ext cx="10149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Riconosce pattern nel linguaggio e predice la parola più probabile.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05840" y="31089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"La capitale d'Italia è…" → </a:t>
            </a:r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Roma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411480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1E1B4B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14800"/>
            <a:ext cx="10149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perché lo sa.  </a:t>
            </a:r>
            <a:pPr indent="0" marL="0">
              <a:buNone/>
            </a:pPr>
            <a:r>
              <a:rPr lang="en-US" sz="22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Perché l'ha visto un miliardo di volte.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INSEGNANTI · Formazione PNRR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424160" y="640080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926080" cy="384048"/>
          </a:xfrm>
          <a:prstGeom prst="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L'ANALOGIA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 stagista brillante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914400" y="2651760"/>
            <a:ext cx="2743200" cy="2743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65176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🎓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4114800" y="2743200"/>
            <a:ext cx="740664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 letto tutto</a:t>
            </a:r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ogni libro, articolo, manuale. Conosce tutte le teorie del mondo.
</a:t>
            </a:r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ha vissuto niente</a:t>
            </a:r>
            <a:pPr indent="0" marL="0">
              <a:lnSpc>
                <a:spcPct val="110000"/>
              </a:lnSpc>
              <a:buNone/>
            </a:pPr>
            <a:r>
              <a:rPr lang="en-US" sz="200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non conosce la tua scuola, le tue classi, i tuoi studenti.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114800" y="5212080"/>
            <a:ext cx="7406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"Sa tutto e non sa niente del tuo contesto."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INSEGNANTI · Formazione PNRR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424160" y="640080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926080" cy="384048"/>
          </a:xfrm>
          <a:prstGeom prst="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DUE FRAMING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scelta che cambia tutto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21208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6E3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40280"/>
            <a:ext cx="5212080" cy="777240"/>
          </a:xfrm>
          <a:prstGeom prst="roundRect">
            <a:avLst>
              <a:gd name="adj" fmla="val 14118"/>
            </a:avLst>
          </a:prstGeom>
          <a:solidFill>
            <a:srgbClr val="6B679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697480"/>
            <a:ext cx="5212080" cy="320040"/>
          </a:xfrm>
          <a:prstGeom prst="rect">
            <a:avLst/>
          </a:prstGeom>
          <a:solidFill>
            <a:srgbClr val="6B679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402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SCORCIATOIA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0120" y="3355848"/>
            <a:ext cx="146304" cy="146304"/>
          </a:xfrm>
          <a:prstGeom prst="ellipse">
            <a:avLst/>
          </a:prstGeom>
          <a:solidFill>
            <a:srgbClr val="6B6790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24612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Delego il pensiero, accetto e vado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60120" y="4197096"/>
            <a:ext cx="146304" cy="146304"/>
          </a:xfrm>
          <a:prstGeom prst="ellipse">
            <a:avLst/>
          </a:prstGeom>
          <a:solidFill>
            <a:srgbClr val="6B6790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408736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Effetto a breve: faccio prima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60120" y="5038344"/>
            <a:ext cx="146304" cy="146304"/>
          </a:xfrm>
          <a:prstGeom prst="ellipse">
            <a:avLst/>
          </a:prstGeom>
          <a:solidFill>
            <a:srgbClr val="6B6790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928616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Effetto a lungo: debito cognitivo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60120" y="5879592"/>
            <a:ext cx="146304" cy="146304"/>
          </a:xfrm>
          <a:prstGeom prst="ellipse">
            <a:avLst/>
          </a:prstGeom>
          <a:solidFill>
            <a:srgbClr val="6B6790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5769864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muscolo che non si usa si atrofizza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336792" y="2240280"/>
            <a:ext cx="521208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6E3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36792" y="2240280"/>
            <a:ext cx="5212080" cy="777240"/>
          </a:xfrm>
          <a:prstGeom prst="roundRect">
            <a:avLst>
              <a:gd name="adj" fmla="val 14118"/>
            </a:avLst>
          </a:prstGeom>
          <a:solidFill>
            <a:srgbClr val="4F46E5"/>
          </a:solidFill>
          <a:ln/>
        </p:spPr>
      </p:sp>
      <p:sp>
        <p:nvSpPr>
          <p:cNvPr id="18" name="Shape 16"/>
          <p:cNvSpPr/>
          <p:nvPr/>
        </p:nvSpPr>
        <p:spPr>
          <a:xfrm>
            <a:off x="6336792" y="2697480"/>
            <a:ext cx="5212080" cy="32004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6336792" y="22402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SUPERPOTERE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656832" y="3355848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1" name="Text 19"/>
          <p:cNvSpPr/>
          <p:nvPr/>
        </p:nvSpPr>
        <p:spPr>
          <a:xfrm>
            <a:off x="6976872" y="324612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Amplifico le mie capacità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56832" y="4197096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3" name="Text 21"/>
          <p:cNvSpPr/>
          <p:nvPr/>
        </p:nvSpPr>
        <p:spPr>
          <a:xfrm>
            <a:off x="6976872" y="408736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il mio giudizio sull'output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656832" y="5038344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5" name="Text 23"/>
          <p:cNvSpPr/>
          <p:nvPr/>
        </p:nvSpPr>
        <p:spPr>
          <a:xfrm>
            <a:off x="6976872" y="4928616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Jagged frontier: il confine è irregolare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656832" y="5879592"/>
            <a:ext cx="146304" cy="14630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7" name="Text 25"/>
          <p:cNvSpPr/>
          <p:nvPr/>
        </p:nvSpPr>
        <p:spPr>
          <a:xfrm>
            <a:off x="6976872" y="5769864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Cresce nel tempo, non si spegne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INSEGNANTI · Formazione PNRR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424160" y="640080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4F46E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2743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0" b="1" dirty="0">
                <a:solidFill>
                  <a:srgbClr val="06B6D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20000" dirty="0"/>
          </a:p>
        </p:txBody>
      </p:sp>
      <p:sp>
        <p:nvSpPr>
          <p:cNvPr id="6" name="Text 4"/>
          <p:cNvSpPr/>
          <p:nvPr/>
        </p:nvSpPr>
        <p:spPr>
          <a:xfrm>
            <a:off x="1280160" y="246888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eccelle dove non te lo aspetti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 fallisce dove sembrerebbe banale.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1325880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Ethan Mollick</a:t>
            </a:r>
            <a:pPr indent="0" marL="0">
              <a:buNone/>
            </a:pPr>
            <a:r>
              <a:rPr lang="en-US" sz="1800" dirty="0">
                <a:solidFill>
                  <a:srgbClr val="CF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·  Co-Intelligence (2024)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926080" cy="384048"/>
          </a:xfrm>
          <a:prstGeom prst="rect">
            <a:avLst>
              <a:gd name="adj" fmla="val 50000"/>
            </a:avLst>
          </a:prstGeom>
          <a:solidFill>
            <a:srgbClr val="06B6D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JAGGED FRONTIER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Dove eccelle, dove fallisce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21208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6E3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40280"/>
            <a:ext cx="5212080" cy="777240"/>
          </a:xfrm>
          <a:prstGeom prst="roundRect">
            <a:avLst>
              <a:gd name="adj" fmla="val 14118"/>
            </a:avLst>
          </a:prstGeom>
          <a:solidFill>
            <a:srgbClr val="06B6D4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697480"/>
            <a:ext cx="521208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402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DOVE ECCELLE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0120" y="3355848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24612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varianti di una spiegazione in 30 sec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60120" y="4197096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408736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Sintetizza 50 pagine in un minuto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60120" y="5038344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928616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Differenzia un materiale per livelli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60120" y="5879592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1280160" y="5769864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Bozza di circolare o verifica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336792" y="2240280"/>
            <a:ext cx="521208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6E3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36792" y="2240280"/>
            <a:ext cx="5212080" cy="777240"/>
          </a:xfrm>
          <a:prstGeom prst="roundRect">
            <a:avLst>
              <a:gd name="adj" fmla="val 14118"/>
            </a:avLst>
          </a:prstGeom>
          <a:solidFill>
            <a:srgbClr val="F97316"/>
          </a:solidFill>
          <a:ln/>
        </p:spPr>
      </p:sp>
      <p:sp>
        <p:nvSpPr>
          <p:cNvPr id="18" name="Shape 16"/>
          <p:cNvSpPr/>
          <p:nvPr/>
        </p:nvSpPr>
        <p:spPr>
          <a:xfrm>
            <a:off x="6336792" y="2697480"/>
            <a:ext cx="521208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9" name="Text 17"/>
          <p:cNvSpPr/>
          <p:nvPr/>
        </p:nvSpPr>
        <p:spPr>
          <a:xfrm>
            <a:off x="6336792" y="22402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DOVE FALLISCE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656832" y="3355848"/>
            <a:ext cx="146304" cy="14630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6976872" y="324612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Capire che Marco va incoraggiato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56832" y="4197096"/>
            <a:ext cx="146304" cy="14630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6976872" y="408736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Leggere l'umore della classe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656832" y="5038344"/>
            <a:ext cx="146304" cy="14630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5" name="Text 23"/>
          <p:cNvSpPr/>
          <p:nvPr/>
        </p:nvSpPr>
        <p:spPr>
          <a:xfrm>
            <a:off x="6976872" y="4928616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Giudicare se “va bene così” qui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656832" y="5879592"/>
            <a:ext cx="146304" cy="14630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7" name="Text 25"/>
          <p:cNvSpPr/>
          <p:nvPr/>
        </p:nvSpPr>
        <p:spPr>
          <a:xfrm>
            <a:off x="6976872" y="5769864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Decidere cosa conta davvero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INSEGNANTI · Formazione PNRR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424160" y="640080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4F46E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2926080" cy="384048"/>
          </a:xfrm>
          <a:prstGeom prst="rect">
            <a:avLst>
              <a:gd name="adj" fmla="val 5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CUORE DEL CORSO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548640" cy="91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60320"/>
            <a:ext cx="10607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differenza non è lo 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strumento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È il 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metodo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926080" cy="384048"/>
          </a:xfrm>
          <a:prstGeom prst="rect">
            <a:avLst>
              <a:gd name="adj" fmla="val 50000"/>
            </a:avLst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CONCETTO DI FATICA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Stessa fatica, più risultato</a:t>
            </a:r>
            <a:endParaRPr lang="en-US" sz="3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194560"/>
          <a:ext cx="7315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246888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6E3F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0" y="265176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Calo della fatica
</a:t>
            </a:r>
            <a:pPr algn="ctr" indent="0" marL="0">
              <a:lnSpc>
                <a:spcPct val="105000"/>
              </a:lnSpc>
              <a:buNone/>
            </a:pPr>
            <a:r>
              <a:rPr lang="en-US" sz="2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
</a:t>
            </a:r>
            <a:pPr algn="ctr"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spegnere il cervello.
</a:t>
            </a:r>
            <a:pPr algn="ctr"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monitoraggio resta sempre tuo.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INSEGNANTI · Formazione PNRR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424160" y="640080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926080" cy="384048"/>
          </a:xfrm>
          <a:prstGeom prst="rect">
            <a:avLst>
              <a:gd name="adj" fmla="val 50000"/>
            </a:avLst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MODI OPPOSTI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Uso passivo vs uso attivo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521208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6E3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240280"/>
            <a:ext cx="5212080" cy="777240"/>
          </a:xfrm>
          <a:prstGeom prst="roundRect">
            <a:avLst>
              <a:gd name="adj" fmla="val 14118"/>
            </a:avLst>
          </a:prstGeom>
          <a:solidFill>
            <a:srgbClr val="F97316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697480"/>
            <a:ext cx="5212080" cy="3200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2402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PASSIVO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60120" y="3355848"/>
            <a:ext cx="146304" cy="14630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324612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“Scrivimi la relazione” → copia-incolla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960120" y="4197096"/>
            <a:ext cx="146304" cy="14630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408736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Accetto l'output senza valutarlo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60120" y="5038344"/>
            <a:ext cx="146304" cy="146304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928616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Erode il pensiero critico nel tempo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336792" y="2240280"/>
            <a:ext cx="5212080" cy="370332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2700">
            <a:solidFill>
              <a:srgbClr val="E6E3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36792" y="2240280"/>
            <a:ext cx="5212080" cy="777240"/>
          </a:xfrm>
          <a:prstGeom prst="roundRect">
            <a:avLst>
              <a:gd name="adj" fmla="val 14118"/>
            </a:avLst>
          </a:prstGeom>
          <a:solidFill>
            <a:srgbClr val="06B6D4"/>
          </a:solidFill>
          <a:ln/>
        </p:spPr>
      </p:sp>
      <p:sp>
        <p:nvSpPr>
          <p:cNvPr id="16" name="Shape 14"/>
          <p:cNvSpPr/>
          <p:nvPr/>
        </p:nvSpPr>
        <p:spPr>
          <a:xfrm>
            <a:off x="6336792" y="2697480"/>
            <a:ext cx="5212080" cy="3200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6336792" y="2240280"/>
            <a:ext cx="5212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ATTIVO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656832" y="3355848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9" name="Text 17"/>
          <p:cNvSpPr/>
          <p:nvPr/>
        </p:nvSpPr>
        <p:spPr>
          <a:xfrm>
            <a:off x="6976872" y="324612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“Scrivimi una bozza, poi la correggo”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6656832" y="4197096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6976872" y="4087368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Valuto, itero, uso il mio giudizio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656832" y="5038344"/>
            <a:ext cx="146304" cy="14630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6976872" y="4928616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Allena e mantiene il pensiero critico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INSEGNANTI · Formazione PNRR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424160" y="640080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926080" cy="384048"/>
          </a:xfrm>
          <a:prstGeom prst="rect">
            <a:avLst>
              <a:gd name="adj" fmla="val 50000"/>
            </a:avLst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DATO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Usare male l'IA costa caro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120640" cy="2926080"/>
          </a:xfrm>
          <a:prstGeom prst="roundRect">
            <a:avLst>
              <a:gd name="adj" fmla="val 4375"/>
            </a:avLst>
          </a:prstGeom>
          <a:solidFill>
            <a:srgbClr val="1E1B4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017520"/>
            <a:ext cx="5120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= −0,75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1005840" y="4160520"/>
            <a:ext cx="4389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correlazione tra uso passivo dell'IA e calo del pensiero critico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126480" y="2651760"/>
            <a:ext cx="53949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c'è una buona notizia.
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literacy</a:t>
            </a:r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attenua l'effetto: chi capisce come funziona lo strumento delega meno ciecamente.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6355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Fonte: Gerlich 2025 (MDPI Societies)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424160" y="635508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4F46E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2926080" cy="384048"/>
          </a:xfrm>
          <a:prstGeom prst="rect">
            <a:avLst>
              <a:gd name="adj" fmla="val 50000"/>
            </a:avLst>
          </a:prstGeom>
          <a:solidFill>
            <a:srgbClr val="4F46E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CONCETTO DI FATICA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548640" cy="91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560320"/>
            <a:ext cx="10607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vi fa fare di 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meno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 fa fare 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meglio</a:t>
            </a:r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97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657600" cy="3657600"/>
          </a:xfrm>
          <a:prstGeom prst="ellipse">
            <a:avLst/>
          </a:prstGeom>
          <a:solidFill>
            <a:srgbClr val="1E1B4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2743200" cy="420624"/>
          </a:xfrm>
          <a:prstGeom prst="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DIBATTITO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20440" y="6766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E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Parla la stanza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698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confini reali dell'IA.
</a:t>
            </a:r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pensavi NON potesse fare… e invece fa?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58368" y="489204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Due facce della stessa scoperta: il confine non è dove ce lo immaginiamo.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5943600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" y="5943600"/>
            <a:ext cx="237744" cy="237744"/>
          </a:xfrm>
          <a:prstGeom prst="ellipse">
            <a:avLst/>
          </a:prstGeom>
          <a:solidFill>
            <a:srgbClr val="FFD9C2"/>
          </a:solidFill>
          <a:ln/>
        </p:spPr>
      </p:sp>
      <p:sp>
        <p:nvSpPr>
          <p:cNvPr id="10" name="Shape 8"/>
          <p:cNvSpPr/>
          <p:nvPr/>
        </p:nvSpPr>
        <p:spPr>
          <a:xfrm>
            <a:off x="1426464" y="5943600"/>
            <a:ext cx="237744" cy="237744"/>
          </a:xfrm>
          <a:prstGeom prst="ellipse">
            <a:avLst/>
          </a:prstGeom>
          <a:solidFill>
            <a:srgbClr val="1E1B4B"/>
          </a:solidFill>
          <a:ln/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97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657600" cy="3657600"/>
          </a:xfrm>
          <a:prstGeom prst="ellipse">
            <a:avLst/>
          </a:prstGeom>
          <a:solidFill>
            <a:srgbClr val="1E1B4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2743200" cy="420624"/>
          </a:xfrm>
          <a:prstGeom prst="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DIBATTITO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20440" y="6766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E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Parla la stanza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698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 l'IA può fare tutto questo…
</a:t>
            </a:r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resta che deve fare l'insegnante?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58368" y="489204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Il ruolo non sparisce: si sposta. Da chi trasmette nozioni a chi guida il rapporto con la conoscenza.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5943600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" y="5943600"/>
            <a:ext cx="237744" cy="237744"/>
          </a:xfrm>
          <a:prstGeom prst="ellipse">
            <a:avLst/>
          </a:prstGeom>
          <a:solidFill>
            <a:srgbClr val="FFD9C2"/>
          </a:solidFill>
          <a:ln/>
        </p:spPr>
      </p:sp>
      <p:sp>
        <p:nvSpPr>
          <p:cNvPr id="10" name="Shape 8"/>
          <p:cNvSpPr/>
          <p:nvPr/>
        </p:nvSpPr>
        <p:spPr>
          <a:xfrm>
            <a:off x="1426464" y="5943600"/>
            <a:ext cx="237744" cy="237744"/>
          </a:xfrm>
          <a:prstGeom prst="ellipse">
            <a:avLst/>
          </a:prstGeom>
          <a:solidFill>
            <a:srgbClr val="1E1B4B"/>
          </a:solidFill>
          <a:ln/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7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206240"/>
            <a:ext cx="3657600" cy="3657600"/>
          </a:xfrm>
          <a:prstGeom prst="ellipse">
            <a:avLst/>
          </a:prstGeom>
          <a:solidFill>
            <a:srgbClr val="1E1B4B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2743200" cy="420624"/>
          </a:xfrm>
          <a:prstGeom prst="rect">
            <a:avLst>
              <a:gd name="adj" fmla="val 5000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DIBATTITO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520440" y="67665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E4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Parla la stanza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6984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Cosa pensi che l'IA
</a:t>
            </a:r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1E1B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potrà mai fare?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58368" y="4892040"/>
            <a:ext cx="10241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EA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Questa domanda resta aperta. La riapriamo alla fine del corso.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58368" y="5943600"/>
            <a:ext cx="237744" cy="23774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" y="5943600"/>
            <a:ext cx="237744" cy="237744"/>
          </a:xfrm>
          <a:prstGeom prst="ellipse">
            <a:avLst/>
          </a:prstGeom>
          <a:solidFill>
            <a:srgbClr val="FFD9C2"/>
          </a:solidFill>
          <a:ln/>
        </p:spPr>
      </p:sp>
      <p:sp>
        <p:nvSpPr>
          <p:cNvPr id="10" name="Shape 8"/>
          <p:cNvSpPr/>
          <p:nvPr/>
        </p:nvSpPr>
        <p:spPr>
          <a:xfrm>
            <a:off x="1426464" y="5943600"/>
            <a:ext cx="237744" cy="237744"/>
          </a:xfrm>
          <a:prstGeom prst="ellipse">
            <a:avLst/>
          </a:prstGeom>
          <a:solidFill>
            <a:srgbClr val="1E1B4B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2926080" cy="384048"/>
          </a:xfrm>
          <a:prstGeom prst="rect">
            <a:avLst>
              <a:gd name="adj" fmla="val 50000"/>
            </a:avLst>
          </a:prstGeom>
          <a:solidFill>
            <a:srgbClr val="7C3AED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PROSSIMA VOLTA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 metodo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658368" y="26974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3 principi per usare l'IA da professionisti, non da chi ci prova.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37490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3F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60120" y="4069080"/>
            <a:ext cx="731520" cy="73152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069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48920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 spegnere il cervello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61688" y="37490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3F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81728" y="4069080"/>
            <a:ext cx="731520" cy="7315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1" name="Text 9"/>
          <p:cNvSpPr/>
          <p:nvPr/>
        </p:nvSpPr>
        <p:spPr>
          <a:xfrm>
            <a:off x="4681728" y="4069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36008" y="48920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è un collega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83296" y="3749040"/>
            <a:ext cx="35204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3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03336" y="4069080"/>
            <a:ext cx="731520" cy="7315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Text 13"/>
          <p:cNvSpPr/>
          <p:nvPr/>
        </p:nvSpPr>
        <p:spPr>
          <a:xfrm>
            <a:off x="8403336" y="40690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357616" y="489204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7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Obiettivi chiari + AI First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INSEGNANTI · Formazione PNRR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424160" y="6400800"/>
            <a:ext cx="13075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7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280160"/>
            <a:ext cx="4206240" cy="4206240"/>
          </a:xfrm>
          <a:prstGeom prst="ellipse">
            <a:avLst/>
          </a:prstGeom>
          <a:solidFill>
            <a:srgbClr val="4F46E5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4023360"/>
            <a:ext cx="3108960" cy="3108960"/>
          </a:xfrm>
          <a:prstGeom prst="ellipse">
            <a:avLst/>
          </a:prstGeom>
          <a:solidFill>
            <a:srgbClr val="7C3AED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05840" y="4754880"/>
            <a:ext cx="2926080" cy="2926080"/>
          </a:xfrm>
          <a:prstGeom prst="ellipse">
            <a:avLst/>
          </a:prstGeom>
          <a:solidFill>
            <a:srgbClr val="06B6D4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377440"/>
            <a:ext cx="10607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Amplifica il tuo </a:t>
            </a:r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06B6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potenziale</a:t>
            </a:r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4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Usala ogni giorno.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04672" y="44805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C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L'IA non sostituisce l'intelligenza umana — la potenzia con metodo.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5394960"/>
            <a:ext cx="237744" cy="237744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8" name="Shape 6"/>
          <p:cNvSpPr/>
          <p:nvPr/>
        </p:nvSpPr>
        <p:spPr>
          <a:xfrm>
            <a:off x="1207008" y="5394960"/>
            <a:ext cx="237744" cy="237744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Shape 7"/>
          <p:cNvSpPr/>
          <p:nvPr/>
        </p:nvSpPr>
        <p:spPr>
          <a:xfrm>
            <a:off x="1591056" y="5394960"/>
            <a:ext cx="237744" cy="237744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0" name="Shape 8"/>
          <p:cNvSpPr/>
          <p:nvPr/>
        </p:nvSpPr>
        <p:spPr>
          <a:xfrm>
            <a:off x="1975104" y="5394960"/>
            <a:ext cx="237744" cy="237744"/>
          </a:xfrm>
          <a:prstGeom prst="ellipse">
            <a:avLst/>
          </a:prstGeom>
          <a:solidFill>
            <a:srgbClr val="F9731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2026-06-04T14:25:39Z</dcterms:created>
  <dcterms:modified xsi:type="dcterms:W3CDTF">2026-06-04T14:25:39Z</dcterms:modified>
</cp:coreProperties>
</file>